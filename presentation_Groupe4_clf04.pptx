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jwHbsxQ1SZCItn2VcZwjHnyTbF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C5F579-AC5F-42A5-B9E7-30264C9CC5BD}">
  <a:tblStyle styleId="{7DC5F579-AC5F-42A5-B9E7-30264C9CC5B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Prix moyen (INR)</c:v>
                </c:pt>
              </c:strCache>
            </c:strRef>
          </c:tx>
          <c:spPr>
            <a:solidFill>
              <a:srgbClr val="4285F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Computers</c:v>
                </c:pt>
                <c:pt idx="1">
                  <c:v>Watches</c:v>
                </c:pt>
                <c:pt idx="2">
                  <c:v>Home Furn.</c:v>
                </c:pt>
                <c:pt idx="3">
                  <c:v>Kitchen</c:v>
                </c:pt>
                <c:pt idx="4">
                  <c:v>Baby Care</c:v>
                </c:pt>
                <c:pt idx="5">
                  <c:v>Home Decor</c:v>
                </c:pt>
                <c:pt idx="6">
                  <c:v>Beauty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28900</c:v>
                </c:pt>
                <c:pt idx="1">
                  <c:v>6800</c:v>
                </c:pt>
                <c:pt idx="2">
                  <c:v>3200</c:v>
                </c:pt>
                <c:pt idx="3">
                  <c:v>2100</c:v>
                </c:pt>
                <c:pt idx="4">
                  <c:v>1500</c:v>
                </c:pt>
                <c:pt idx="5">
                  <c:v>1200</c:v>
                </c:pt>
                <c:pt idx="6">
                  <c:v>950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DA-4B0E-90BD-19464AF03C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Accuracy</c:v>
                </c:pt>
              </c:strCache>
            </c:strRef>
          </c:tx>
          <c:spPr>
            <a:solidFill>
              <a:srgbClr val="4285F4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Linear SVM</c:v>
                </c:pt>
                <c:pt idx="1">
                  <c:v>Naive Bayes</c:v>
                </c:pt>
                <c:pt idx="2">
                  <c:v>Log. Reg.</c:v>
                </c:pt>
                <c:pt idx="3">
                  <c:v>KNN</c:v>
                </c:pt>
                <c:pt idx="4">
                  <c:v>Random F.</c:v>
                </c:pt>
                <c:pt idx="5">
                  <c:v>Grad. Boost.</c:v>
                </c:pt>
                <c:pt idx="6">
                  <c:v>Dec. Tree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0.95399999999999996</c:v>
                </c:pt>
                <c:pt idx="1">
                  <c:v>0.93200000000000005</c:v>
                </c:pt>
                <c:pt idx="2">
                  <c:v>0.94599999999999995</c:v>
                </c:pt>
                <c:pt idx="3">
                  <c:v>0.90500000000000003</c:v>
                </c:pt>
                <c:pt idx="4">
                  <c:v>0.91900000000000004</c:v>
                </c:pt>
                <c:pt idx="5">
                  <c:v>0.93</c:v>
                </c:pt>
                <c:pt idx="6">
                  <c:v>0.871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38-4B7D-B140-FA35336F7F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Linear SVM</c:v>
                </c:pt>
                <c:pt idx="1">
                  <c:v>Naive Bayes</c:v>
                </c:pt>
                <c:pt idx="2">
                  <c:v>Log. Reg.</c:v>
                </c:pt>
                <c:pt idx="3">
                  <c:v>KNN</c:v>
                </c:pt>
                <c:pt idx="4">
                  <c:v>Random F.</c:v>
                </c:pt>
                <c:pt idx="5">
                  <c:v>Grad. Boost.</c:v>
                </c:pt>
                <c:pt idx="6">
                  <c:v>Dec. Tree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0.94799999999999995</c:v>
                </c:pt>
                <c:pt idx="1">
                  <c:v>0.94299999999999995</c:v>
                </c:pt>
                <c:pt idx="2">
                  <c:v>0.93799999999999994</c:v>
                </c:pt>
                <c:pt idx="3">
                  <c:v>0.92900000000000005</c:v>
                </c:pt>
                <c:pt idx="4">
                  <c:v>0.92400000000000004</c:v>
                </c:pt>
                <c:pt idx="5">
                  <c:v>0.91400000000000003</c:v>
                </c:pt>
                <c:pt idx="6">
                  <c:v>0.876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F38-4B7D-B140-FA35336F7F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5" name="Google Shape;375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3" name="Google Shape;383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3" name="Google Shape;393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2" name="Google Shape;402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3" name="Google Shape;433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1" name="Google Shape;441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4" name="Google Shape;484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chart" Target="../charts/chart2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 rot="1200000">
            <a:off x="6400800" y="-457200"/>
            <a:ext cx="3657600" cy="2743200"/>
          </a:xfrm>
          <a:prstGeom prst="rect">
            <a:avLst/>
          </a:prstGeom>
          <a:solidFill>
            <a:srgbClr val="2554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 rot="1800000">
            <a:off x="6858000" y="457200"/>
            <a:ext cx="3200400" cy="2286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731520" y="5486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C L F 0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731520" y="1280160"/>
            <a:ext cx="6400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Trebuchet MS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Classification des biens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Trebuchet MS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 consommation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731520" y="3291840"/>
            <a:ext cx="164592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31520" y="35661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FF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A0C4FF"/>
                </a:solidFill>
                <a:latin typeface="Calibri"/>
                <a:ea typeface="Calibri"/>
                <a:cs typeface="Calibri"/>
                <a:sym typeface="Calibri"/>
              </a:rPr>
              <a:t>Projet Initiation au Machine Learning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402336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0C4FF"/>
                </a:solidFill>
                <a:latin typeface="Calibri"/>
                <a:ea typeface="Calibri"/>
                <a:cs typeface="Calibri"/>
                <a:sym typeface="Calibri"/>
              </a:rPr>
              <a:t>Groupe : </a:t>
            </a:r>
            <a:r>
              <a:rPr b="0" i="0" lang="en-US" sz="1300" u="none" cap="none" strike="noStrik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AHOGA Josias, BANIGANTE Kpapou,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DOGO Amine Abakoura, DIOUF Abdoulaye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46634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Professeur : SALL Fatou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Sommaire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1005840" y="10972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508760" y="10972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Contexte et problematique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1572768"/>
            <a:ext cx="365760" cy="36576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1005840" y="157276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508760" y="157276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Presentation du jeu de donnees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2048256"/>
            <a:ext cx="365760" cy="36576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1005840" y="2048256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508760" y="2048256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Analyse exploratoire (EDA)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2523744"/>
            <a:ext cx="365760" cy="36576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1005840" y="252374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508760" y="2523744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Pretraitement et feature engineering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2999232"/>
            <a:ext cx="365760" cy="36576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1005840" y="299923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508760" y="299923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Modelisation et classification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57200" y="3474720"/>
            <a:ext cx="365760" cy="36576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005840" y="34747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06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508760" y="34747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Resultats et evaluation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57200" y="3950208"/>
            <a:ext cx="365760" cy="36576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1005840" y="395020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07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508760" y="395020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Interface de classification (Streamlit)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57200" y="4425696"/>
            <a:ext cx="365760" cy="36576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1005840" y="4425696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08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508760" y="4425696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Conclusion et perspectives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 / 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731520" y="9144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800"/>
              <a:buFont typeface="Trebuchet MS"/>
              <a:buNone/>
            </a:pPr>
            <a:r>
              <a:rPr b="1" lang="en-US" sz="48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731520" y="173736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Contexte et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problematique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731520" y="3291840"/>
            <a:ext cx="164592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Le contexte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731520" y="11887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La marketplace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731520" y="160020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L'entreprise "Place de marche" veut lancer une marketplace e-commerce anglophone. Les vendeurs proposent des articles avec une photo et une description.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5029200" y="11887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Le probleme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029200" y="160020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La categorisation est faite manuellement par les vendeurs : peu fiable, pas scalable. Il faut automatiser cette tache pour passer a l'echelle.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2286000" y="3108960"/>
            <a:ext cx="45720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2651760" y="32004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Notre mission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2651760" y="3611880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Etudier la faisabilite d'un moteur de classification automatique des articles en categories, a partir du texte, avec une precision suffisante.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 / 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Objectifs du projet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731520" y="1371600"/>
            <a:ext cx="77724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731520" y="1371600"/>
            <a:ext cx="64008" cy="8229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1097280" y="1371600"/>
            <a:ext cx="7132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Etudier la faisabilite de la classification automatique a partir du texte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731520" y="2468880"/>
            <a:ext cx="77724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731520" y="2468880"/>
            <a:ext cx="64008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1097280" y="2468880"/>
            <a:ext cx="7132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Comparer plusieurs modeles, optimiser les hyperparametres et evaluer les performances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731520" y="3566160"/>
            <a:ext cx="77724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731520" y="3566160"/>
            <a:ext cx="64008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1097280" y="3566160"/>
            <a:ext cx="7132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Deployer une interface (Streamlit) pour tester la categorisation en conditions reelles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 / 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/>
          <p:nvPr/>
        </p:nvSpPr>
        <p:spPr>
          <a:xfrm>
            <a:off x="731520" y="9144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800"/>
              <a:buFont typeface="Trebuchet MS"/>
              <a:buNone/>
            </a:pPr>
            <a:r>
              <a:rPr b="1" lang="en-US" sz="48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731520" y="173736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Presentation du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jeu de donnees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731520" y="3291840"/>
            <a:ext cx="164592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Le dataset Flipkart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57200" y="1097280"/>
            <a:ext cx="1920240" cy="11887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457200" y="114300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1 050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57200" y="18745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produits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2560320" y="1097280"/>
            <a:ext cx="1920240" cy="11887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2560320" y="114300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7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2560320" y="18745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categories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4663440" y="1097280"/>
            <a:ext cx="1920240" cy="11887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4663440" y="114300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1E3A5F"/>
                </a:solidFill>
                <a:latin typeface="Trebuchet MS"/>
                <a:ea typeface="Trebuchet MS"/>
                <a:cs typeface="Trebuchet MS"/>
                <a:sym typeface="Trebuchet MS"/>
              </a:rPr>
              <a:t>15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663440" y="18745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colonnes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766560" y="1097280"/>
            <a:ext cx="1920240" cy="11887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6766560" y="114300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150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766560" y="18745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par categorie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57200" y="26060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Colonnes principales utilisees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731520" y="315468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4285F4"/>
                </a:solidFill>
                <a:latin typeface="Consolas"/>
                <a:ea typeface="Consolas"/>
                <a:cs typeface="Consolas"/>
                <a:sym typeface="Consolas"/>
              </a:rPr>
              <a:t>product_name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3840480" y="31546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Nom du produit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731520" y="352044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4285F4"/>
                </a:solidFill>
                <a:latin typeface="Consolas"/>
                <a:ea typeface="Consolas"/>
                <a:cs typeface="Consolas"/>
                <a:sym typeface="Consolas"/>
              </a:rPr>
              <a:t>description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3840480" y="35204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Description detaillee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731520" y="388620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4285F4"/>
                </a:solidFill>
                <a:latin typeface="Consolas"/>
                <a:ea typeface="Consolas"/>
                <a:cs typeface="Consolas"/>
                <a:sym typeface="Consolas"/>
              </a:rPr>
              <a:t>product_category_tree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3840480" y="38862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Arborescence des categories (variable cible)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731520" y="42519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4285F4"/>
                </a:solidFill>
                <a:latin typeface="Consolas"/>
                <a:ea typeface="Consolas"/>
                <a:cs typeface="Consolas"/>
                <a:sym typeface="Consolas"/>
              </a:rPr>
              <a:t>retail_price / discounted_price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3840480" y="42519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Prix de vente et prix reduit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731520" y="46177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4285F4"/>
                </a:solidFill>
                <a:latin typeface="Consolas"/>
                <a:ea typeface="Consolas"/>
                <a:cs typeface="Consolas"/>
                <a:sym typeface="Consolas"/>
              </a:rPr>
              <a:t>brand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3840480" y="46177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Marque du produit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 / 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Les 7 categories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457200" y="1188720"/>
            <a:ext cx="411480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457200" y="1188720"/>
            <a:ext cx="54864" cy="7315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Baby Care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Soins et hygiene pour bebes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57200" y="2103120"/>
            <a:ext cx="411480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457200" y="2103120"/>
            <a:ext cx="54864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640080" y="21488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Beauty and Personal Care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640080" y="2468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Cosmetiques et soins personnels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457200" y="3017520"/>
            <a:ext cx="411480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457200" y="3017520"/>
            <a:ext cx="54864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640080" y="30632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Computers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Ordinateurs et accessoires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457200" y="3931920"/>
            <a:ext cx="411480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457200" y="3931920"/>
            <a:ext cx="54864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640080" y="39776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Home Decor &amp; Festive Needs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640080" y="42976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Decoration et articles festifs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846320" y="1188720"/>
            <a:ext cx="411480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4846320" y="1188720"/>
            <a:ext cx="54864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5029200" y="1234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Home Furnishing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5029200" y="1554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Ameublement et linge de maison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4846320" y="2103120"/>
            <a:ext cx="411480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4846320" y="2103120"/>
            <a:ext cx="54864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5029200" y="21488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Kitchen &amp; Dining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5029200" y="2468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Cuisine et arts de la table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846320" y="3017520"/>
            <a:ext cx="411480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4846320" y="3017520"/>
            <a:ext cx="54864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5029200" y="30632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Watches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029200" y="33832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Montres et accessoires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57200" y="45720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Dataset parfaitement equilibre : 150 produits par categorie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 / 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/>
          <p:nvPr/>
        </p:nvSpPr>
        <p:spPr>
          <a:xfrm>
            <a:off x="731520" y="9144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800"/>
              <a:buFont typeface="Trebuchet MS"/>
              <a:buNone/>
            </a:pPr>
            <a:r>
              <a:rPr b="1" lang="en-US" sz="48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731520" y="173736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Analyse exploratoire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des donnees (EDA)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731520" y="3291840"/>
            <a:ext cx="164592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Separation train / test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457200" y="1097280"/>
            <a:ext cx="54864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731520" y="114300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Point important : On separe les donnees AVANT tout traitement pour eviter le data leakage. Tout calcul (mediane, mode, bornes IQR) est fait sur le train uniquement, puis applique au test.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731520" y="2194560"/>
            <a:ext cx="34747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731520" y="224028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80%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731520" y="28346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Train set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731520" y="31089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840 echantillons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846320" y="2194560"/>
            <a:ext cx="34747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4846320" y="224028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20%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4846320" y="28346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Test set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4846320" y="31089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210 echantillons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457200" y="38404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Decisions de pretraitement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731520" y="416052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Stratification</a:t>
            </a: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: meme proportion de classes dans train et test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Imputation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: mediane (prix) et mode (brand) calcules sur le train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Outliers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: detectes par IQR mais conserves (ecarts normaux entre categories)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10 / 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Valeurs manquantes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6" name="Google Shape;206;p11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{7DC5F579-AC5F-42A5-B9E7-30264C9CC5BD}</a:tableStyleId>
              </a:tblPr>
              <a:tblGrid>
                <a:gridCol w="2286000"/>
                <a:gridCol w="1371600"/>
                <a:gridCol w="18288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Colonne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Manquantes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Pourcentage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brand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338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F4444"/>
                          </a:solidFill>
                        </a:rPr>
                        <a:t>32.19%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retail_price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0.10%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discounted_price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0.10%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product_specifications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0.10%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7" name="Google Shape;207;p11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457200" y="3474720"/>
            <a:ext cx="54864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731520" y="352044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 retenir : La colonne brand a 32% de manquants (imputee par le mode). Les colonnes textuelles essentielles (product_name, description) sont completes a 100%. Les colonnes product_rating et overall_rating ont 84.7% de "No rating available" et sont donc inexploitables.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11 / 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Analyse des prix par categorie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8" name="Google Shape;218;p12"/>
          <p:cNvGraphicFramePr/>
          <p:nvPr/>
        </p:nvGraphicFramePr>
        <p:xfrm>
          <a:off x="457200" y="1097280"/>
          <a:ext cx="5486400" cy="32004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19" name="Google Shape;219;p12"/>
          <p:cNvSpPr/>
          <p:nvPr/>
        </p:nvSpPr>
        <p:spPr>
          <a:xfrm>
            <a:off x="6400800" y="1097280"/>
            <a:ext cx="24688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6583680" y="118872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Observations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6583680" y="1600200"/>
            <a:ext cx="21031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Les prix varient enormement selon la categorie.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Computers est la categorie la plus chere.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Beauty a les prix les plus bas.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Ces ecarts justifient de ne pas supprimer les outliers.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12 / 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Analyse du texte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457200" y="1097280"/>
            <a:ext cx="2560320" cy="10972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457200" y="1097280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120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457200" y="169164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mots en moyenne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par description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3291840" y="1097280"/>
            <a:ext cx="2560320" cy="10972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3"/>
          <p:cNvSpPr/>
          <p:nvPr/>
        </p:nvSpPr>
        <p:spPr>
          <a:xfrm>
            <a:off x="3291840" y="1097280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50%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3291840" y="169164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reduction apres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nettoyage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6126480" y="1097280"/>
            <a:ext cx="2560320" cy="10972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3"/>
          <p:cNvSpPr/>
          <p:nvPr/>
        </p:nvSpPr>
        <p:spPr>
          <a:xfrm>
            <a:off x="6126480" y="1097280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6126480" y="169164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textes vides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apres nettoyage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Les descriptions sont riches en contenu textuel, ce qui est favorable pour la classification. Chaque categorie a un vocabulaire distinct.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457200" y="30175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Mots-cles dominants par categorie 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731520" y="342900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000"/>
              <a:buFont typeface="Trebuchet MS"/>
              <a:buNone/>
            </a:pPr>
            <a:r>
              <a:rPr b="1" lang="en-US" sz="10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Computers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2377440" y="34290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laptop, ram, processor, ssd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731520" y="379476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000"/>
              <a:buFont typeface="Trebuchet MS"/>
              <a:buNone/>
            </a:pPr>
            <a:r>
              <a:rPr b="1" lang="en-US" sz="10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Watches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2377440" y="37947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watch, dial, strap, analog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731520" y="416052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000"/>
              <a:buFont typeface="Trebuchet MS"/>
              <a:buNone/>
            </a:pPr>
            <a:r>
              <a:rPr b="1" lang="en-US" sz="10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Baby Care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2377440" y="416052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baby, cotton, towel, soft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731520" y="452628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000"/>
              <a:buFont typeface="Trebuchet MS"/>
              <a:buNone/>
            </a:pPr>
            <a:r>
              <a:rPr b="1" lang="en-US" sz="10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Kitchen &amp; Dining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2377440" y="45262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steel, cooker, kitchen, jar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4846320" y="342900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000"/>
              <a:buFont typeface="Trebuchet MS"/>
              <a:buNone/>
            </a:pPr>
            <a:r>
              <a:rPr b="1" lang="en-US" sz="10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Beauty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6492240" y="34290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skin, cream, face, hair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4846320" y="379476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000"/>
              <a:buFont typeface="Trebuchet MS"/>
              <a:buNone/>
            </a:pPr>
            <a:r>
              <a:rPr b="1" lang="en-US" sz="10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Home Furnishing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6492240" y="37947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curtain, bed, sheet, pillow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4846320" y="416052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000"/>
              <a:buFont typeface="Trebuchet MS"/>
              <a:buNone/>
            </a:pPr>
            <a:r>
              <a:rPr b="1" lang="en-US" sz="10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Home Decor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6492240" y="416052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wall, decor, light, candle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13 / 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"/>
          <p:cNvSpPr/>
          <p:nvPr/>
        </p:nvSpPr>
        <p:spPr>
          <a:xfrm>
            <a:off x="731520" y="9144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800"/>
              <a:buFont typeface="Trebuchet MS"/>
              <a:buNone/>
            </a:pPr>
            <a:r>
              <a:rPr b="1" lang="en-US" sz="48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731520" y="173736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Pretraitement et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 engineering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731520" y="3291840"/>
            <a:ext cx="164592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5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Pipeline de nettoyage du texte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5"/>
          <p:cNvSpPr/>
          <p:nvPr/>
        </p:nvSpPr>
        <p:spPr>
          <a:xfrm>
            <a:off x="640080" y="1143000"/>
            <a:ext cx="365760" cy="36576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5"/>
          <p:cNvSpPr/>
          <p:nvPr/>
        </p:nvSpPr>
        <p:spPr>
          <a:xfrm>
            <a:off x="640080" y="1143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1188720" y="10972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Combinaison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1188720" y="135331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Nom du produit + description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5"/>
          <p:cNvSpPr/>
          <p:nvPr/>
        </p:nvSpPr>
        <p:spPr>
          <a:xfrm>
            <a:off x="640080" y="18288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1188720" y="1783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Minuscules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1188720" y="203911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Tout le texte en lowercase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640080" y="2514600"/>
            <a:ext cx="365760" cy="36576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5"/>
          <p:cNvSpPr/>
          <p:nvPr/>
        </p:nvSpPr>
        <p:spPr>
          <a:xfrm>
            <a:off x="640080" y="25146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1188720" y="24688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Nettoyage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1188720" y="272491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Supprimer URLs, HTML, chiffres, ponctuation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"/>
          <p:cNvSpPr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1188720" y="31546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Stop words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1188720" y="341071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Retirer les mots courants anglais + e-commerce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640080" y="3886200"/>
            <a:ext cx="365760" cy="36576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5"/>
          <p:cNvSpPr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1188720" y="38404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Filtrage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1188720" y="409651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Garder les mots de plus de 2 caracteres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4846320" y="1097280"/>
            <a:ext cx="393192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5"/>
          <p:cNvSpPr/>
          <p:nvPr/>
        </p:nvSpPr>
        <p:spPr>
          <a:xfrm>
            <a:off x="5029200" y="11887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Exemple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5029200" y="16002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Avant 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5029200" y="187452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onsolas"/>
              <a:buNone/>
            </a:pPr>
            <a:r>
              <a:rPr i="1" lang="en-US" sz="100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"Samsung Galaxy Watch 42mm Bluetooth Price Rs. 15000..."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5029200" y="2468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Apres 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5029200" y="274320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onsolas"/>
              <a:buNone/>
            </a:pPr>
            <a:r>
              <a:rPr i="1" lang="en-US" sz="100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"samsung galaxy watch bluetooth smartwatch heart rate monitor"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15 / 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6"/>
          <p:cNvSpPr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Vectorisation TF-IDF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457200" y="1097280"/>
            <a:ext cx="1920240" cy="1371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6"/>
          <p:cNvSpPr/>
          <p:nvPr/>
        </p:nvSpPr>
        <p:spPr>
          <a:xfrm>
            <a:off x="457200" y="11430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5 000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457200" y="178308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max_features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Taille du vocabulaire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2560320" y="1097280"/>
            <a:ext cx="1920240" cy="1371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2560320" y="11430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(1, 2)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2560320" y="178308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ngram_range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Unigrams + bigrams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4663440" y="1097280"/>
            <a:ext cx="1920240" cy="1371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6"/>
          <p:cNvSpPr/>
          <p:nvPr/>
        </p:nvSpPr>
        <p:spPr>
          <a:xfrm>
            <a:off x="4663440" y="11430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1E3A5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4663440" y="178308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min_df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Frequence minimale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6766560" y="1097280"/>
            <a:ext cx="1920240" cy="1371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6"/>
          <p:cNvSpPr/>
          <p:nvPr/>
        </p:nvSpPr>
        <p:spPr>
          <a:xfrm>
            <a:off x="6766560" y="11430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0.95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6766560" y="178308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max_df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Frequence maximale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457200" y="28346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Dimensions obtenues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731520" y="3291840"/>
            <a:ext cx="36576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400" rotWithShape="0" algn="bl" dir="8100000" dist="127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6"/>
          <p:cNvSpPr/>
          <p:nvPr/>
        </p:nvSpPr>
        <p:spPr>
          <a:xfrm>
            <a:off x="822960" y="331927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Jeu d'entrainement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822960" y="354787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840 x 5000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6"/>
          <p:cNvSpPr/>
          <p:nvPr/>
        </p:nvSpPr>
        <p:spPr>
          <a:xfrm>
            <a:off x="4754880" y="3291840"/>
            <a:ext cx="36576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400" rotWithShape="0" algn="bl" dir="8100000" dist="127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6"/>
          <p:cNvSpPr/>
          <p:nvPr/>
        </p:nvSpPr>
        <p:spPr>
          <a:xfrm>
            <a:off x="4846320" y="331927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Jeu de test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4846320" y="354787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210 x 5000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6"/>
          <p:cNvSpPr/>
          <p:nvPr/>
        </p:nvSpPr>
        <p:spPr>
          <a:xfrm>
            <a:off x="457200" y="411480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6"/>
          <p:cNvSpPr/>
          <p:nvPr/>
        </p:nvSpPr>
        <p:spPr>
          <a:xfrm>
            <a:off x="731520" y="416052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Le TF-IDF est fit uniquement sur le train (fit_transform), puis applique au test (transform). Pas de data leakage.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16 / 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7"/>
          <p:cNvSpPr/>
          <p:nvPr/>
        </p:nvSpPr>
        <p:spPr>
          <a:xfrm>
            <a:off x="731520" y="9144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800"/>
              <a:buFont typeface="Trebuchet MS"/>
              <a:buNone/>
            </a:pPr>
            <a:r>
              <a:rPr b="1" lang="en-US" sz="48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731520" y="173736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Modelisation et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classification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731520" y="3291840"/>
            <a:ext cx="164592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8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7 modeles testes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457200" y="1097280"/>
            <a:ext cx="41148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8"/>
          <p:cNvSpPr/>
          <p:nvPr/>
        </p:nvSpPr>
        <p:spPr>
          <a:xfrm>
            <a:off x="594360" y="11430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Naive Bayes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3383280" y="114300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Probabiliste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594360" y="14630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Rapide et efficace pour le texte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457200" y="2011680"/>
            <a:ext cx="41148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8"/>
          <p:cNvSpPr/>
          <p:nvPr/>
        </p:nvSpPr>
        <p:spPr>
          <a:xfrm>
            <a:off x="594360" y="20574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Logistic Regression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3383280" y="205740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Lineaire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594360" y="2377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Bonne baseline, interpretable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457200" y="2926080"/>
            <a:ext cx="41148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8"/>
          <p:cNvSpPr/>
          <p:nvPr/>
        </p:nvSpPr>
        <p:spPr>
          <a:xfrm>
            <a:off x="594360" y="29718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Linear SVM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3383280" y="297180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Lineaire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594360" y="32918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Performant en haute dimension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457200" y="3840480"/>
            <a:ext cx="41148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8"/>
          <p:cNvSpPr/>
          <p:nvPr/>
        </p:nvSpPr>
        <p:spPr>
          <a:xfrm>
            <a:off x="594360" y="38862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Random Forest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3383280" y="388620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Ensemble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594360" y="4206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Ensemble d'arbres de decision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4846320" y="1097280"/>
            <a:ext cx="41148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8"/>
          <p:cNvSpPr/>
          <p:nvPr/>
        </p:nvSpPr>
        <p:spPr>
          <a:xfrm>
            <a:off x="4983480" y="11430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KNN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7772400" y="114300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Instance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4983480" y="14630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Classification par voisinage, k=5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4846320" y="2011680"/>
            <a:ext cx="41148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8"/>
          <p:cNvSpPr/>
          <p:nvPr/>
        </p:nvSpPr>
        <p:spPr>
          <a:xfrm>
            <a:off x="4983480" y="20574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Decision Tree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7772400" y="205740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Arbre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8"/>
          <p:cNvSpPr/>
          <p:nvPr/>
        </p:nvSpPr>
        <p:spPr>
          <a:xfrm>
            <a:off x="4983480" y="2377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Simple et interpretable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4846320" y="2926080"/>
            <a:ext cx="41148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8"/>
          <p:cNvSpPr/>
          <p:nvPr/>
        </p:nvSpPr>
        <p:spPr>
          <a:xfrm>
            <a:off x="4983480" y="29718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Gradient Boosting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7772400" y="297180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Ensemble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4983480" y="32918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Boosting iteratif sur des arbres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457200" y="45720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Validation croisee 5-fold + evaluation sur jeu de test (20%)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18 / 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9"/>
          <p:cNvSpPr/>
          <p:nvPr/>
        </p:nvSpPr>
        <p:spPr>
          <a:xfrm>
            <a:off x="731520" y="9144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800"/>
              <a:buFont typeface="Trebuchet MS"/>
              <a:buNone/>
            </a:pPr>
            <a:r>
              <a:rPr b="1" lang="en-US" sz="48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06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731520" y="173736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Resultats et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evaluation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9"/>
          <p:cNvSpPr/>
          <p:nvPr/>
        </p:nvSpPr>
        <p:spPr>
          <a:xfrm>
            <a:off x="731520" y="3291840"/>
            <a:ext cx="164592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0"/>
          <p:cNvSpPr/>
          <p:nvPr/>
        </p:nvSpPr>
        <p:spPr>
          <a:xfrm>
            <a:off x="457200" y="18288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Comparaison des modeles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8" name="Google Shape;388;p20"/>
          <p:cNvGraphicFramePr/>
          <p:nvPr/>
        </p:nvGraphicFramePr>
        <p:xfrm>
          <a:off x="27432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{7DC5F579-AC5F-42A5-B9E7-30264C9CC5BD}</a:tableStyleId>
              </a:tblPr>
              <a:tblGrid>
                <a:gridCol w="1645925"/>
                <a:gridCol w="1280150"/>
                <a:gridCol w="1371600"/>
                <a:gridCol w="1097275"/>
                <a:gridCol w="1097275"/>
                <a:gridCol w="109727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CV Accuracy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Accuracy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 Score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85F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4285F4"/>
                          </a:solidFill>
                        </a:rPr>
                        <a:t>Linear SVM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0.9536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0B981"/>
                          </a:solidFill>
                        </a:rPr>
                        <a:t>0.9476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0.9479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0.9484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0.9476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Naive Bayes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0.9321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0.9429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0.9423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0.9473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0.9429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Logistic Regression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0.9464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0.9381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0.9387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0.9403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0.9381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KNN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0.9048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0.9286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0.9283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0.9289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0.9286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0.9190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0.9238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0.9238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0.9303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0.9238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Gradient Boosting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0.9298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0.9143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0.9160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0.9203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0.9143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Decision Tree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0.8714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F4444"/>
                          </a:solidFill>
                        </a:rPr>
                        <a:t>0.8762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0.8747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0.8761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0.8762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9" name="Google Shape;389;p20"/>
          <p:cNvSpPr/>
          <p:nvPr/>
        </p:nvSpPr>
        <p:spPr>
          <a:xfrm>
            <a:off x="457200" y="43891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Le Linear SVM domine avec 94.76% d'accuracy sur le jeu de test.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20 / 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1"/>
          <p:cNvSpPr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Comparaison visuelle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8" name="Google Shape;398;p21"/>
          <p:cNvGraphicFramePr/>
          <p:nvPr/>
        </p:nvGraphicFramePr>
        <p:xfrm>
          <a:off x="457200" y="1097280"/>
          <a:ext cx="8229600" cy="36576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99" name="Google Shape;399;p2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21 / 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2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Optimisation (GridSearchCV)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2"/>
          <p:cNvSpPr/>
          <p:nvPr/>
        </p:nvSpPr>
        <p:spPr>
          <a:xfrm>
            <a:off x="457200" y="10058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Meilleurs hyperparametres trouves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8" name="Google Shape;408;p22"/>
          <p:cNvGraphicFramePr/>
          <p:nvPr/>
        </p:nvGraphicFramePr>
        <p:xfrm>
          <a:off x="45720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{7DC5F579-AC5F-42A5-B9E7-30264C9CC5BD}</a:tableStyleId>
              </a:tblPr>
              <a:tblGrid>
                <a:gridCol w="2011675"/>
                <a:gridCol w="1828800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Parametre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Valeur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C (regularisation)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85F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285F4"/>
                          </a:solidFill>
                        </a:rPr>
                        <a:t>1.0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loss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85F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285F4"/>
                          </a:solidFill>
                        </a:rPr>
                        <a:t>squared_hinge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max_iter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85F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285F4"/>
                          </a:solidFill>
                        </a:rPr>
                        <a:t>2000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9" name="Google Shape;409;p22"/>
          <p:cNvSpPr/>
          <p:nvPr/>
        </p:nvSpPr>
        <p:spPr>
          <a:xfrm>
            <a:off x="4846320" y="1005840"/>
            <a:ext cx="3931920" cy="2286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2"/>
          <p:cNvSpPr/>
          <p:nvPr/>
        </p:nvSpPr>
        <p:spPr>
          <a:xfrm>
            <a:off x="5029200" y="10972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Modele final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2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LinearSVC (optimise)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2"/>
          <p:cNvSpPr/>
          <p:nvPr/>
        </p:nvSpPr>
        <p:spPr>
          <a:xfrm>
            <a:off x="5029200" y="182880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94.76%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2"/>
          <p:cNvSpPr/>
          <p:nvPr/>
        </p:nvSpPr>
        <p:spPr>
          <a:xfrm>
            <a:off x="5029200" y="233172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Test Accuracy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2"/>
          <p:cNvSpPr/>
          <p:nvPr/>
        </p:nvSpPr>
        <p:spPr>
          <a:xfrm>
            <a:off x="5029200" y="26060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F1 Score : 0.9479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2"/>
          <p:cNvSpPr/>
          <p:nvPr/>
        </p:nvSpPr>
        <p:spPr>
          <a:xfrm>
            <a:off x="457200" y="35204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Performance par categorie (F1) 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2"/>
          <p:cNvSpPr/>
          <p:nvPr/>
        </p:nvSpPr>
        <p:spPr>
          <a:xfrm>
            <a:off x="731520" y="39319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Computers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2"/>
          <p:cNvSpPr/>
          <p:nvPr/>
        </p:nvSpPr>
        <p:spPr>
          <a:xfrm>
            <a:off x="3291840" y="39319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1.00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2"/>
          <p:cNvSpPr/>
          <p:nvPr/>
        </p:nvSpPr>
        <p:spPr>
          <a:xfrm>
            <a:off x="731520" y="42062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Watches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2"/>
          <p:cNvSpPr/>
          <p:nvPr/>
        </p:nvSpPr>
        <p:spPr>
          <a:xfrm>
            <a:off x="3291840" y="420624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1.00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2"/>
          <p:cNvSpPr/>
          <p:nvPr/>
        </p:nvSpPr>
        <p:spPr>
          <a:xfrm>
            <a:off x="731520" y="44805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Kitchen &amp; Dining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3291840" y="44805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0.98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731520" y="475488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Beauty &amp; Personal Care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3291840" y="475488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0.93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2"/>
          <p:cNvSpPr/>
          <p:nvPr/>
        </p:nvSpPr>
        <p:spPr>
          <a:xfrm>
            <a:off x="4846320" y="39319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Home Furnishing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2"/>
          <p:cNvSpPr/>
          <p:nvPr/>
        </p:nvSpPr>
        <p:spPr>
          <a:xfrm>
            <a:off x="7406640" y="39319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0.93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4846320" y="42062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Home Decor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2"/>
          <p:cNvSpPr/>
          <p:nvPr/>
        </p:nvSpPr>
        <p:spPr>
          <a:xfrm>
            <a:off x="7406640" y="420624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0.93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2"/>
          <p:cNvSpPr/>
          <p:nvPr/>
        </p:nvSpPr>
        <p:spPr>
          <a:xfrm>
            <a:off x="4846320" y="44805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Baby Care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2"/>
          <p:cNvSpPr/>
          <p:nvPr/>
        </p:nvSpPr>
        <p:spPr>
          <a:xfrm>
            <a:off x="7406640" y="44805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0.85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22 / 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3"/>
          <p:cNvSpPr/>
          <p:nvPr/>
        </p:nvSpPr>
        <p:spPr>
          <a:xfrm>
            <a:off x="731520" y="9144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800"/>
              <a:buFont typeface="Trebuchet MS"/>
              <a:buNone/>
            </a:pPr>
            <a:r>
              <a:rPr b="1" lang="en-US" sz="48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07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3"/>
          <p:cNvSpPr/>
          <p:nvPr/>
        </p:nvSpPr>
        <p:spPr>
          <a:xfrm>
            <a:off x="731520" y="173736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Interface de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classification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3"/>
          <p:cNvSpPr/>
          <p:nvPr/>
        </p:nvSpPr>
        <p:spPr>
          <a:xfrm>
            <a:off x="731520" y="3291840"/>
            <a:ext cx="164592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4"/>
          <p:cNvSpPr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Interface de classification (Streamlit)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4"/>
          <p:cNvSpPr/>
          <p:nvPr/>
        </p:nvSpPr>
        <p:spPr>
          <a:xfrm>
            <a:off x="457200" y="1097280"/>
            <a:ext cx="411480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4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Comment ca marche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4"/>
          <p:cNvSpPr/>
          <p:nvPr/>
        </p:nvSpPr>
        <p:spPr>
          <a:xfrm>
            <a:off x="731520" y="1719072"/>
            <a:ext cx="274320" cy="27432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4"/>
          <p:cNvSpPr/>
          <p:nvPr/>
        </p:nvSpPr>
        <p:spPr>
          <a:xfrm>
            <a:off x="731520" y="171907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4"/>
          <p:cNvSpPr/>
          <p:nvPr/>
        </p:nvSpPr>
        <p:spPr>
          <a:xfrm>
            <a:off x="1143000" y="16916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L'utilisateur saisit une description de produit en anglais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4"/>
          <p:cNvSpPr/>
          <p:nvPr/>
        </p:nvSpPr>
        <p:spPr>
          <a:xfrm>
            <a:off x="731520" y="2221992"/>
            <a:ext cx="274320" cy="27432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4"/>
          <p:cNvSpPr/>
          <p:nvPr/>
        </p:nvSpPr>
        <p:spPr>
          <a:xfrm>
            <a:off x="731520" y="222199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4"/>
          <p:cNvSpPr/>
          <p:nvPr/>
        </p:nvSpPr>
        <p:spPr>
          <a:xfrm>
            <a:off x="1143000" y="21945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Le texte est nettoye (meme pipeline que le notebook)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4"/>
          <p:cNvSpPr/>
          <p:nvPr/>
        </p:nvSpPr>
        <p:spPr>
          <a:xfrm>
            <a:off x="731520" y="2724912"/>
            <a:ext cx="274320" cy="27432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4"/>
          <p:cNvSpPr/>
          <p:nvPr/>
        </p:nvSpPr>
        <p:spPr>
          <a:xfrm>
            <a:off x="731520" y="272491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4"/>
          <p:cNvSpPr/>
          <p:nvPr/>
        </p:nvSpPr>
        <p:spPr>
          <a:xfrm>
            <a:off x="1143000" y="26974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Le modele TF-IDF + LinearSVC predit la categorie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4"/>
          <p:cNvSpPr/>
          <p:nvPr/>
        </p:nvSpPr>
        <p:spPr>
          <a:xfrm>
            <a:off x="731520" y="3227832"/>
            <a:ext cx="274320" cy="27432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4"/>
          <p:cNvSpPr/>
          <p:nvPr/>
        </p:nvSpPr>
        <p:spPr>
          <a:xfrm>
            <a:off x="731520" y="322783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4"/>
          <p:cNvSpPr/>
          <p:nvPr/>
        </p:nvSpPr>
        <p:spPr>
          <a:xfrm>
            <a:off x="1143000" y="32004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La categorie s'affiche dans l'interface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4"/>
          <p:cNvSpPr/>
          <p:nvPr/>
        </p:nvSpPr>
        <p:spPr>
          <a:xfrm>
            <a:off x="4846320" y="1097280"/>
            <a:ext cx="393192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4"/>
          <p:cNvSpPr/>
          <p:nvPr/>
        </p:nvSpPr>
        <p:spPr>
          <a:xfrm>
            <a:off x="5029200" y="11887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Caracteristiques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4"/>
          <p:cNvSpPr/>
          <p:nvPr/>
        </p:nvSpPr>
        <p:spPr>
          <a:xfrm>
            <a:off x="5074920" y="1737360"/>
            <a:ext cx="109728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4"/>
          <p:cNvSpPr/>
          <p:nvPr/>
        </p:nvSpPr>
        <p:spPr>
          <a:xfrm>
            <a:off x="5303520" y="164592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Interface web interactive et intuitive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4"/>
          <p:cNvSpPr/>
          <p:nvPr/>
        </p:nvSpPr>
        <p:spPr>
          <a:xfrm>
            <a:off x="5074920" y="2148840"/>
            <a:ext cx="109728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4"/>
          <p:cNvSpPr/>
          <p:nvPr/>
        </p:nvSpPr>
        <p:spPr>
          <a:xfrm>
            <a:off x="5303520" y="205740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Exemples pre-remplis pour tester rapidement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4"/>
          <p:cNvSpPr/>
          <p:nvPr/>
        </p:nvSpPr>
        <p:spPr>
          <a:xfrm>
            <a:off x="5074920" y="2560320"/>
            <a:ext cx="109728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4"/>
          <p:cNvSpPr/>
          <p:nvPr/>
        </p:nvSpPr>
        <p:spPr>
          <a:xfrm>
            <a:off x="5303520" y="246888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Fonction clean_text identique au notebook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4"/>
          <p:cNvSpPr/>
          <p:nvPr/>
        </p:nvSpPr>
        <p:spPr>
          <a:xfrm>
            <a:off x="5074920" y="2971800"/>
            <a:ext cx="109728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4"/>
          <p:cNvSpPr/>
          <p:nvPr/>
        </p:nvSpPr>
        <p:spPr>
          <a:xfrm>
            <a:off x="5303520" y="288036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Deployable sur Streamlit Cloud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4"/>
          <p:cNvSpPr/>
          <p:nvPr/>
        </p:nvSpPr>
        <p:spPr>
          <a:xfrm>
            <a:off x="5074920" y="3383280"/>
            <a:ext cx="109728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4"/>
          <p:cNvSpPr/>
          <p:nvPr/>
        </p:nvSpPr>
        <p:spPr>
          <a:xfrm>
            <a:off x="5303520" y="329184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Accessible sur http://localhost:8501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Structure : api/app.py  |  api/requirements.txt  |  api/README.md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25 / 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5"/>
          <p:cNvSpPr/>
          <p:nvPr/>
        </p:nvSpPr>
        <p:spPr>
          <a:xfrm>
            <a:off x="731520" y="9144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800"/>
              <a:buFont typeface="Trebuchet MS"/>
              <a:buNone/>
            </a:pPr>
            <a:r>
              <a:rPr b="1" lang="en-US" sz="4800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08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5"/>
          <p:cNvSpPr/>
          <p:nvPr/>
        </p:nvSpPr>
        <p:spPr>
          <a:xfrm>
            <a:off x="731520" y="173736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 et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perspectives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5"/>
          <p:cNvSpPr/>
          <p:nvPr/>
        </p:nvSpPr>
        <p:spPr>
          <a:xfrm>
            <a:off x="731520" y="3291840"/>
            <a:ext cx="164592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6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6"/>
          <p:cNvSpPr/>
          <p:nvPr/>
        </p:nvSpPr>
        <p:spPr>
          <a:xfrm>
            <a:off x="457200" y="1005840"/>
            <a:ext cx="4114800" cy="23774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6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Ce qu'on a realise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6"/>
          <p:cNvSpPr/>
          <p:nvPr/>
        </p:nvSpPr>
        <p:spPr>
          <a:xfrm>
            <a:off x="914400" y="150876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EDA complete du dataset Flipkart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6"/>
          <p:cNvSpPr/>
          <p:nvPr/>
        </p:nvSpPr>
        <p:spPr>
          <a:xfrm>
            <a:off x="914400" y="1755648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Separation train/test sans data leakage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6"/>
          <p:cNvSpPr/>
          <p:nvPr/>
        </p:nvSpPr>
        <p:spPr>
          <a:xfrm>
            <a:off x="914400" y="2002536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Pretraitement NLP et vectorisation TF-IDF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6"/>
          <p:cNvSpPr/>
          <p:nvPr/>
        </p:nvSpPr>
        <p:spPr>
          <a:xfrm>
            <a:off x="914400" y="2249424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Comparaison de 7 modeles de classification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6"/>
          <p:cNvSpPr/>
          <p:nvPr/>
        </p:nvSpPr>
        <p:spPr>
          <a:xfrm>
            <a:off x="914400" y="2496312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Optimisation par GridSearchCV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6"/>
          <p:cNvSpPr/>
          <p:nvPr/>
        </p:nvSpPr>
        <p:spPr>
          <a:xfrm>
            <a:off x="914400" y="274320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Sauvegarde des modeles (joblib)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6"/>
          <p:cNvSpPr/>
          <p:nvPr/>
        </p:nvSpPr>
        <p:spPr>
          <a:xfrm>
            <a:off x="914400" y="2990088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Interface Streamlit deployable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6"/>
          <p:cNvSpPr/>
          <p:nvPr/>
        </p:nvSpPr>
        <p:spPr>
          <a:xfrm>
            <a:off x="457200" y="3566160"/>
            <a:ext cx="41148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6"/>
          <p:cNvSpPr/>
          <p:nvPr/>
        </p:nvSpPr>
        <p:spPr>
          <a:xfrm>
            <a:off x="640080" y="36576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La classification est FAISABLE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6"/>
          <p:cNvSpPr/>
          <p:nvPr/>
        </p:nvSpPr>
        <p:spPr>
          <a:xfrm>
            <a:off x="640080" y="402336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94.76% d'accuracy avec le LinearSVC.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Le modele est suffisamment precis pour une mise en production sur la marketplace.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6"/>
          <p:cNvSpPr/>
          <p:nvPr/>
        </p:nvSpPr>
        <p:spPr>
          <a:xfrm>
            <a:off x="4846320" y="1005840"/>
            <a:ext cx="393192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6"/>
          <p:cNvSpPr/>
          <p:nvPr/>
        </p:nvSpPr>
        <p:spPr>
          <a:xfrm>
            <a:off x="5029200" y="10972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Perspectives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6"/>
          <p:cNvSpPr/>
          <p:nvPr/>
        </p:nvSpPr>
        <p:spPr>
          <a:xfrm>
            <a:off x="5029200" y="1600200"/>
            <a:ext cx="54864" cy="5486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6"/>
          <p:cNvSpPr/>
          <p:nvPr/>
        </p:nvSpPr>
        <p:spPr>
          <a:xfrm>
            <a:off x="5303520" y="164592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Plus de donnees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6"/>
          <p:cNvSpPr/>
          <p:nvPr/>
        </p:nvSpPr>
        <p:spPr>
          <a:xfrm>
            <a:off x="5303520" y="1901952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Augmenter le volume pour ameliorer la robustesse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6"/>
          <p:cNvSpPr/>
          <p:nvPr/>
        </p:nvSpPr>
        <p:spPr>
          <a:xfrm>
            <a:off x="5029200" y="2331720"/>
            <a:ext cx="54864" cy="5486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6"/>
          <p:cNvSpPr/>
          <p:nvPr/>
        </p:nvSpPr>
        <p:spPr>
          <a:xfrm>
            <a:off x="5303520" y="237744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Deep Learning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6"/>
          <p:cNvSpPr/>
          <p:nvPr/>
        </p:nvSpPr>
        <p:spPr>
          <a:xfrm>
            <a:off x="5303520" y="2633472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Tester BERT ou LSTM pour capturer le contexte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6"/>
          <p:cNvSpPr/>
          <p:nvPr/>
        </p:nvSpPr>
        <p:spPr>
          <a:xfrm>
            <a:off x="5029200" y="3063240"/>
            <a:ext cx="54864" cy="5486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6"/>
          <p:cNvSpPr/>
          <p:nvPr/>
        </p:nvSpPr>
        <p:spPr>
          <a:xfrm>
            <a:off x="5303520" y="310896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Images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6"/>
          <p:cNvSpPr/>
          <p:nvPr/>
        </p:nvSpPr>
        <p:spPr>
          <a:xfrm>
            <a:off x="5303520" y="3364992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Ajouter les photos des produits (CNN)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6"/>
          <p:cNvSpPr/>
          <p:nvPr/>
        </p:nvSpPr>
        <p:spPr>
          <a:xfrm>
            <a:off x="5029200" y="3794760"/>
            <a:ext cx="54864" cy="5486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6"/>
          <p:cNvSpPr/>
          <p:nvPr/>
        </p:nvSpPr>
        <p:spPr>
          <a:xfrm>
            <a:off x="5303520" y="384048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Multimodal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6"/>
          <p:cNvSpPr/>
          <p:nvPr/>
        </p:nvSpPr>
        <p:spPr>
          <a:xfrm>
            <a:off x="5303520" y="4096512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Combiner texte + image + metadonnees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27 / 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2026-02-14T18:24:21Z</dcterms:created>
  <dc:creator>Groupe - CLF04</dc:creator>
</cp:coreProperties>
</file>