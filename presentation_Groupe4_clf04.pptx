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2.xml" ContentType="application/vnd.openxmlformats-officedocument.drawingml.chart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moyen (INR)</c:v>
                </c:pt>
              </c:strCache>
            </c:strRef>
          </c:tx>
          <c:spPr>
            <a:solidFill>
              <a:srgbClr val="4285F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1A2E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Computers</c:v>
                </c:pt>
                <c:pt idx="1">
                  <c:v>Watches</c:v>
                </c:pt>
                <c:pt idx="2">
                  <c:v>Home Furn.</c:v>
                </c:pt>
                <c:pt idx="3">
                  <c:v>Kitchen</c:v>
                </c:pt>
                <c:pt idx="4">
                  <c:v>Baby Care</c:v>
                </c:pt>
                <c:pt idx="5">
                  <c:v>Home Decor</c:v>
                </c:pt>
                <c:pt idx="6">
                  <c:v>Beauty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28900</c:v>
                </c:pt>
                <c:pt idx="1">
                  <c:v>6800</c:v>
                </c:pt>
                <c:pt idx="2">
                  <c:v>3200</c:v>
                </c:pt>
                <c:pt idx="3">
                  <c:v>2100</c:v>
                </c:pt>
                <c:pt idx="4">
                  <c:v>1500</c:v>
                </c:pt>
                <c:pt idx="5">
                  <c:v>1200</c:v>
                </c:pt>
                <c:pt idx="6">
                  <c:v>950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1DA-4B0E-90BD-19464AF03C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Accuracy</c:v>
                </c:pt>
              </c:strCache>
            </c:strRef>
          </c:tx>
          <c:spPr>
            <a:solidFill>
              <a:srgbClr val="4285F4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Linear SVM</c:v>
                </c:pt>
                <c:pt idx="1">
                  <c:v>Naive Bayes</c:v>
                </c:pt>
                <c:pt idx="2">
                  <c:v>Log. Reg.</c:v>
                </c:pt>
                <c:pt idx="3">
                  <c:v>KNN</c:v>
                </c:pt>
                <c:pt idx="4">
                  <c:v>Random F.</c:v>
                </c:pt>
                <c:pt idx="5">
                  <c:v>Grad. Boost.</c:v>
                </c:pt>
                <c:pt idx="6">
                  <c:v>Dec. Tree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0.95399999999999996</c:v>
                </c:pt>
                <c:pt idx="1">
                  <c:v>0.93200000000000005</c:v>
                </c:pt>
                <c:pt idx="2">
                  <c:v>0.94599999999999995</c:v>
                </c:pt>
                <c:pt idx="3">
                  <c:v>0.90500000000000003</c:v>
                </c:pt>
                <c:pt idx="4">
                  <c:v>0.91900000000000004</c:v>
                </c:pt>
                <c:pt idx="5">
                  <c:v>0.93</c:v>
                </c:pt>
                <c:pt idx="6">
                  <c:v>0.871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38-4B7D-B140-FA35336F7F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Accuracy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Linear SVM</c:v>
                </c:pt>
                <c:pt idx="1">
                  <c:v>Naive Bayes</c:v>
                </c:pt>
                <c:pt idx="2">
                  <c:v>Log. Reg.</c:v>
                </c:pt>
                <c:pt idx="3">
                  <c:v>KNN</c:v>
                </c:pt>
                <c:pt idx="4">
                  <c:v>Random F.</c:v>
                </c:pt>
                <c:pt idx="5">
                  <c:v>Grad. Boost.</c:v>
                </c:pt>
                <c:pt idx="6">
                  <c:v>Dec. Tree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0.94799999999999995</c:v>
                </c:pt>
                <c:pt idx="1">
                  <c:v>0.94299999999999995</c:v>
                </c:pt>
                <c:pt idx="2">
                  <c:v>0.93799999999999994</c:v>
                </c:pt>
                <c:pt idx="3">
                  <c:v>0.92900000000000005</c:v>
                </c:pt>
                <c:pt idx="4">
                  <c:v>0.92400000000000004</c:v>
                </c:pt>
                <c:pt idx="5">
                  <c:v>0.91400000000000003</c:v>
                </c:pt>
                <c:pt idx="6">
                  <c:v>0.876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F38-4B7D-B140-FA35336F7F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8993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6400800" y="-457200"/>
            <a:ext cx="3657600" cy="2743200"/>
          </a:xfrm>
          <a:prstGeom prst="rect">
            <a:avLst/>
          </a:prstGeom>
          <a:solidFill>
            <a:srgbClr val="2554A0"/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6858000" y="457200"/>
            <a:ext cx="3200400" cy="22860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L F 0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Classification des biens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 consommation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Initiation au Machine Learning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: </a:t>
            </a:r>
            <a:r>
              <a:rPr lang="en-US" sz="1300" dirty="0">
                <a:solidFill>
                  <a:srgbClr val="D0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Josias, BANIGATE Kpakpou,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D0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DOGO Amine </a:t>
            </a:r>
            <a:r>
              <a:rPr lang="en-US" sz="1300" dirty="0" err="1">
                <a:solidFill>
                  <a:srgbClr val="D0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Abakoura</a:t>
            </a:r>
            <a:r>
              <a:rPr lang="en-US" sz="1300" dirty="0">
                <a:solidFill>
                  <a:srgbClr val="D0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DIOUF Abdoulaye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663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Professeur : SALL Fatou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Sommaire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0972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08760" y="1097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problematique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7276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157276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du jeu de donnees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048256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4825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08760" y="204825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(EDA)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523744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252374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08760" y="25237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Pretraitement et feature engineering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2999232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999232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08760" y="29992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Modelisation et classification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34747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08760" y="3474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Resultats et evaluation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950208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3950208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395020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de classification (Streamlit)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425696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" y="442569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508760" y="442569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perspectives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Contexte et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problematique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contexte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188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marketplace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L'entreprise "Place de marche" veut lancer une marketplace e-commerce anglophone. Les vendeurs proposent des articles avec une photo et une description.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1887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probleme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6002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categorisation est faite manuellement par les vendeurs : peu fiable, pas scalable. Il faut automatiser cette tache pour passer a l'echelle.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0" y="3108960"/>
            <a:ext cx="45720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3200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Notre mission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361188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Etudier la faisabilite d'un moteur de classification automatique des articles en categories, a partir du texte, avec une precision suffisante.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Objectifs du projet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7724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64008" cy="82296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37160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Etudier la faisabilite de la classification automatique a partir du texte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77724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468880"/>
            <a:ext cx="64008" cy="822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4688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plusieurs modeles, optimiser les hyperparametres et evaluer les performances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3566160"/>
            <a:ext cx="64008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56616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Deployer une interface (Streamlit) pour tester la categorisation en conditions reelles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Presentation du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jeu de donnees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dataset Flipkart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1 050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97280"/>
            <a:ext cx="192024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1143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560320" y="1874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192024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143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63440" y="1874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1097280"/>
            <a:ext cx="1920240" cy="118872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1143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766560" y="187452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categorie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Colonnes principales utilisees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3152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product_name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31546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du produit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35204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3520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detaillee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8862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product_category_tree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Arborescence des categories (variable cible)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2519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retail_price / discounted_price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40480" y="4251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de vente et prix reduit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4617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40480" y="4617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Marque du produit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7 categories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7315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Baby Care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Soins et hygiene pour bebes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03120"/>
            <a:ext cx="54864" cy="7315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Beauty and Personal Care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Cosmetiques et soins personnels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017520"/>
            <a:ext cx="54864" cy="7315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063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383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Ordinateurs et accessoires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31920"/>
            <a:ext cx="54864" cy="7315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977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 Decor &amp; Festive Needs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297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Decoration et articles festifs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1887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1188720"/>
            <a:ext cx="54864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 Furnishing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Ameublement et linge de maison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1031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46320" y="210312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2148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Kitchen &amp; Dining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2468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et arts de la table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017520"/>
            <a:ext cx="41148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46320" y="3017520"/>
            <a:ext cx="54864" cy="7315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0" y="30632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029200" y="3383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Montres et accessoires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572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parfaitement equilibre : 150 produits par categorie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 exploratoire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 donnees (EDA)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Separation train / test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430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important : On separe les donnees AVANT tout traitement pour eviter le data leakage. Tout calcul (mediane, mode, bornes IQR) est fait sur le train uniquement, puis applique au test.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34747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240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Train set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1089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840 echantillons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46320" y="2194560"/>
            <a:ext cx="34747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46320" y="2240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set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31089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 echantillons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de pretraitement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1605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Stratification</a:t>
            </a: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meme proportion de classes dans train et test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mediane (prix) et mode (brand) calcules sur le train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detectes par IQR mais conserves (ecarts normaux entre categories)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Valeurs manquantes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5486400" cy="1310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Colonne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Manquantes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Pourcentage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338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</a:rPr>
                        <a:t>32.19%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retail_price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0.10%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discounted_price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0.10%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product_specifications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0.10%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474720"/>
            <a:ext cx="8229600" cy="91440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3474720"/>
            <a:ext cx="54864" cy="9144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5204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 : La colonne brand a 32% de manquants (imputee par le mode). Les colonnes textuelles essentielles (product_name, description) sont completes a 100%. Les colonnes product_rating et overall_rating ont 84.7% de "No rating available" et sont donc inexploitables.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 des prix par categorie</a:t>
            </a:r>
            <a:endParaRPr lang="en-US" sz="3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9728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097280"/>
            <a:ext cx="24688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583680" y="1188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Observations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0" y="1600200"/>
            <a:ext cx="21031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prix varient enormement selon la categorie.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 est la categorie la plus chere.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a les prix les plus bas.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ecarts justifient de ne pas supprimer les outliers.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 du texte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560320" cy="109728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972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en moyenne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description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560320" cy="109728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0" y="10972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91840" y="1691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apres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2560320" cy="109728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0972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textes vides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 nettoyage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68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descriptions sont riches en contenu textuel, ce qui est favorable pour la classification. Chaque categorie a un vocabulaire distinct.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Mots-cles dominants par categorie :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4290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Computers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3429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laptop, ram, processor, ssd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77440" y="37947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watch, dial, strap, analog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160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Baby Care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77440" y="41605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baby, cotton, towel, soft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" y="45262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Kitchen &amp; Dining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377440" y="4526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steel, cooker, kitchen, jar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4290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Beauty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92240" y="34290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skin, cream, face, hair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7947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 Furnishing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2240" y="37947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curtain, bed, sheet, pillow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416052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 Decor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92240" y="41605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wall, decor, light, candle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Pretraitement et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engineering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de nettoyage du texte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Combinaison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13533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du produit + description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Minuscules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0391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texte en lowercase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468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Nettoyage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2724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URLs, HTML, chiffres, ponctuation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20040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3154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 words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34107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 les mots courants anglais + e-commerce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365760" cy="36576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840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Filtrage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40965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Garder les mots de plus de 2 caracteres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109728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02920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Exemple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16002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0" y="18745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"Samsung Galaxy Watch 42mm Bluetooth Price Rs. 15000..."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0" y="24688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 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0" y="2743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"samsung galaxy watch bluetooth smartwatch heart rate monitor"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Vectorisation TF-IDF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20240" cy="13716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5 000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max_features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du vocabulaire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0" y="1097280"/>
            <a:ext cx="1920240" cy="13716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(1, 2)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56032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ngram_range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Unigrams + bigrams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1920240" cy="13716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6344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min_df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Frequence minimale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66560" y="1097280"/>
            <a:ext cx="1920240" cy="1371600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0.95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766560" y="17830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max_df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Frequence maximale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Dimensions obtenues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" y="3291840"/>
            <a:ext cx="3657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33192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d'entrainement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5478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840 x 5000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3657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25400" dist="12700" dir="8100000" algn="bl" rotWithShape="0">
              <a:srgbClr val="00000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46320" y="33192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5478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210 x 5000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16052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TF-IDF est fit uniquement sur le train (fit_transform), puis applique au test (transform). Pas de data leakage.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Modelisation et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modeles testes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Naive Bayes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383280" y="11430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Rapide et efficace pour le texte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057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Logistic Regression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83280" y="20574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Lineaire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 baseline, interpretable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971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Linear SVM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29718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Lineaire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Performant en haute dimension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3886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4206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d'arbres de decision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9728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83480" y="1143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0" y="11430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83480" y="1463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par voisinage, k=5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201168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983480" y="2057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Tree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0" y="20574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83480" y="2377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et interpretable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83480" y="29718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 Boosting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772400" y="297180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83480" y="3291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 iteratif sur des arbres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572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croisee 5-fold + evaluation sur jeu de test (20%)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Resultats et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Comparaison des modeles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7589520" cy="19507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4285F4"/>
                          </a:solidFill>
                        </a:rPr>
                        <a:t>Linear SVM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0.9536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</a:rPr>
                        <a:t>0.9476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0.9479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0.9484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0.9476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Naive Bayes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0.9321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0.9429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0.9423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0.9473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0.9429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Logistic Regression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0.9464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0.9381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0.9387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0.9403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0.9381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KNN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0.9048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0.9286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0.9283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0.9289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0.9286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0.9190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0.9238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0.9238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0.9303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0.9238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Gradient Boosting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0.9298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0.9143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0.9160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0.9203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0.9143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Decision Tree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0.8714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</a:rPr>
                        <a:t>0.8762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0.8747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0.8761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0.8762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389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Linear SVM domine avec 94.76% d'accuracy sur le jeu de test.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Comparaison visuelle</a:t>
            </a:r>
            <a:endParaRPr lang="en-US" sz="3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97280"/>
          <a:ext cx="8229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Optimisation (GridSearchCV)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Meilleurs hyperparametres trouves</a:t>
            </a:r>
            <a:endParaRPr lang="en-US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3840480" cy="10363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Parametre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Valeur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 (regularisation)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285F4"/>
                          </a:solidFill>
                        </a:rPr>
                        <a:t>1.0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loss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285F4"/>
                          </a:solidFill>
                        </a:rPr>
                        <a:t>squared_hinge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max_iter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285F4"/>
                          </a:solidFill>
                        </a:rPr>
                        <a:t>2000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846320" y="1005840"/>
            <a:ext cx="3931920" cy="228600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 final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LinearSVC (optimise)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0" y="18288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94.76%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502920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029200" y="2606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 : 0.9479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par categorie (F1) 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39319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291840" y="3931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42062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291840" y="4206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1.00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4805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&amp; Dining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9184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0.98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31520" y="4754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&amp; Personal Care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291840" y="47548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846320" y="39319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Furnishing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406640" y="39319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0.93</a:t>
            </a:r>
            <a:endParaRPr lang="en-US" sz="1100" dirty="0"/>
          </a:p>
        </p:txBody>
      </p:sp>
      <p:sp>
        <p:nvSpPr>
          <p:cNvPr id="5" name="Text 20"/>
          <p:cNvSpPr/>
          <p:nvPr/>
        </p:nvSpPr>
        <p:spPr>
          <a:xfrm>
            <a:off x="4846320" y="42062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Decor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7406640" y="4206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0.93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846320" y="44805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 Care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40664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0.85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 de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 de classification (Streamlit)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Comment ca marche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719072"/>
            <a:ext cx="274320" cy="27432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4300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 saisit une description de produit en anglais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2221992"/>
            <a:ext cx="274320" cy="27432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21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2194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est nettoye (meme pipeline que le notebook)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724912"/>
            <a:ext cx="274320" cy="27432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249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26974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modele TF-IDF + LinearSVC predit la categorie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227832"/>
            <a:ext cx="274320" cy="274320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27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categorie s'affiche dans l'interface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1097280"/>
            <a:ext cx="39319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02920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Caracteristiques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74920" y="1737360"/>
            <a:ext cx="109728" cy="1097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1645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web interactive et intuitive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74920" y="2148840"/>
            <a:ext cx="109728" cy="1097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0" y="20574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pre-remplis pour tester rapidement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74920" y="2560320"/>
            <a:ext cx="109728" cy="1097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0" y="24688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clean_text identique au notebook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4920" y="2971800"/>
            <a:ext cx="109728" cy="1097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28803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sur Streamlit Cloud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74920" y="3383280"/>
            <a:ext cx="109728" cy="1097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sur http://localhost:8501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 : api/app.py  |  api/requirements.txt  |  api/README.md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4285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 et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perspectives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291840"/>
            <a:ext cx="1645920" cy="45720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114800" cy="237744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qu'on a realise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complete du dataset Flipkart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7556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train/test sans data leakage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00253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Pretraitement NLP et vectorisation TF-IDF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24942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7 modeles de classification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49631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par GridSearchCV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274320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des modeles (joblib)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299008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Streamlit deployable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classification est FAISABLE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023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94.76% d'accuracy avec le LinearSVC.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modele est suffisamment precis pour une mise en production sur la marketplace.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1005840"/>
            <a:ext cx="393192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097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Perspectives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0" y="1600200"/>
            <a:ext cx="54864" cy="5486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0" y="16459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Plus de donnees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03520" y="19019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Augmenter le volume pour ameliorer la robustesse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0" y="2331720"/>
            <a:ext cx="54864" cy="5486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23774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03520" y="2633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BERT ou LSTM pour capturer le contexte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0" y="3063240"/>
            <a:ext cx="54864" cy="5486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0" y="3108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03520" y="33649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photos des produits (CNN)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0" y="3794760"/>
            <a:ext cx="54864" cy="5486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0" y="38404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Multimodal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03520" y="40965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Combiner texte + image + metadonnees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1300</Words>
  <Application>Microsoft Office PowerPoint</Application>
  <PresentationFormat>Affichage à l'écran (16:9)</PresentationFormat>
  <Paragraphs>386</Paragraphs>
  <Slides>26</Slides>
  <Notes>26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Consolas</vt:lpstr>
      <vt:lpstr>Trebuchet 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CLF04 - Classification des biens de consommation</dc:title>
  <dc:subject>PptxGenJS Presentation</dc:subject>
  <dc:creator>Groupe - CLF04</dc:creator>
  <cp:lastModifiedBy>Josias AHOGA [ ABMed ]</cp:lastModifiedBy>
  <cp:revision>2</cp:revision>
  <dcterms:created xsi:type="dcterms:W3CDTF">2026-02-14T18:24:21Z</dcterms:created>
  <dcterms:modified xsi:type="dcterms:W3CDTF">2026-02-14T18:29:55Z</dcterms:modified>
</cp:coreProperties>
</file>